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8500" y="-1143000"/>
            <a:ext cx="6858000" cy="6858000"/>
          </a:xfrm>
          <a:prstGeom prst="ellipse">
            <a:avLst/>
          </a:prstGeom>
          <a:ln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91500" y="0"/>
            <a:ext cx="4572000" cy="4572000"/>
          </a:xfrm>
          <a:prstGeom prst="ellipse">
            <a:avLst/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1665089" cy="495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005310"/>
            <a:ext cx="8172450" cy="718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692"/>
              </a:lnSpc>
              <a:buNone/>
            </a:pPr>
            <a:r>
              <a:rPr lang="en-US" sz="5700" b="1" spc="-57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OLÁ, SOU SABRINA.</a:t>
            </a:r>
            <a:endParaRPr lang="en-US" sz="5700" dirty="0"/>
          </a:p>
        </p:txBody>
      </p:sp>
      <p:sp>
        <p:nvSpPr>
          <p:cNvPr id="6" name="Text 3"/>
          <p:cNvSpPr/>
          <p:nvPr/>
        </p:nvSpPr>
        <p:spPr>
          <a:xfrm>
            <a:off x="685800" y="2914352"/>
            <a:ext cx="4583153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te mostrar como a CRED MHS pode entregar mais gestão para a saúde e segurança do trabalho da sua empresa.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85800" y="4533602"/>
            <a:ext cx="4768638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Quero te conhecer, mapear os desafios que temos e oferecer solução, sob medida, para o negócio — e acompanhar essa evolução.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8839200" y="2109788"/>
            <a:ext cx="2476500" cy="24765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851231" y="3170932"/>
            <a:ext cx="528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795718" y="3357563"/>
            <a:ext cx="6396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789052" y="4757738"/>
            <a:ext cx="257664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Sabrina Ferreira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8789052" y="5029200"/>
            <a:ext cx="25766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de Negócios · CRED MHS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79922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sua empresa consegue gerir com os serviços que já possui?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001917" y="1400175"/>
            <a:ext cx="463925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Exames, laudos e programas só geram valor quando viram informação para decidir.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505075"/>
            <a:ext cx="10820400" cy="28575"/>
          </a:xfrm>
          <a:prstGeom prst="rect">
            <a:avLst/>
          </a:prstGeom>
          <a:solidFill>
            <a:srgbClr val="FFCA0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914650"/>
            <a:ext cx="11145012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12"/>
              </a:lnSpc>
              <a:buNone/>
            </a:pPr>
            <a:r>
              <a:rPr lang="en-US" sz="9000" b="1" spc="-90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É AÍ QUE COMEÇA A </a:t>
            </a:r>
            <a:pPr algn="l" indent="0" marL="0">
              <a:lnSpc>
                <a:spcPct val="69512"/>
              </a:lnSpc>
              <a:buNone/>
            </a:pPr>
            <a:r>
              <a:rPr lang="en-US" sz="9000" b="1" spc="-90" kern="0" dirty="0">
                <a:solidFill>
                  <a:srgbClr val="FFCA00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NOSSA CONVERSA.</a:t>
            </a:r>
            <a:endParaRPr lang="en-US" sz="9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1000"/>
            <a:ext cx="57150" cy="462855"/>
          </a:xfrm>
          <a:prstGeom prst="rect">
            <a:avLst/>
          </a:prstGeom>
          <a:solidFill>
            <a:srgbClr val="FFCA00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3737939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antes disso, deixa eu te contar um pouco mais sobre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977205"/>
            <a:ext cx="7208520" cy="668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592"/>
              </a:lnSpc>
              <a:buNone/>
            </a:pPr>
            <a:r>
              <a:rPr lang="en-US" sz="5400" b="1" spc="-54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QUEM SOMOS.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1817638"/>
            <a:ext cx="524752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13"/>
              </a:lnSpc>
              <a:buNone/>
            </a:pPr>
            <a:r>
              <a:rPr lang="en-US" sz="1725" b="1" spc="-17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CRESCEMOS AO LONGO DE 35 ANOS EM PARCERIA COM OS NOSSOS CLIENTES.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685800" y="2394793"/>
            <a:ext cx="471421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Nascemos em Minas Gerais. Estamos no Rio de Janeiro desde 2008 e, desde 2018, com rede própria — hoje com duas unidades: Barra e Centro.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564434"/>
            <a:ext cx="6553200" cy="19050"/>
          </a:xfrm>
          <a:prstGeom prst="rect">
            <a:avLst/>
          </a:prstGeom>
          <a:solidFill>
            <a:srgbClr val="EDEFF5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735884"/>
            <a:ext cx="419100" cy="419100"/>
          </a:xfrm>
          <a:prstGeom prst="ellipse">
            <a:avLst/>
          </a:prstGeom>
          <a:solidFill>
            <a:srgbClr val="FFCA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" y="3802559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231184"/>
            <a:ext cx="227705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ATUAÇÃO NACIONAL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927300" y="3735884"/>
            <a:ext cx="419100" cy="419100"/>
          </a:xfrm>
          <a:prstGeom prst="ellipse">
            <a:avLst/>
          </a:prstGeom>
          <a:solidFill>
            <a:srgbClr val="FFCA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025" y="3821609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7300" y="4231184"/>
            <a:ext cx="2146250" cy="397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EXPERIÊNCIA MULTISSETORIAL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168801" y="3735884"/>
            <a:ext cx="419100" cy="419100"/>
          </a:xfrm>
          <a:prstGeom prst="ellipse">
            <a:avLst/>
          </a:prstGeom>
          <a:solidFill>
            <a:srgbClr val="FFCA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526" y="3821609"/>
            <a:ext cx="247650" cy="2476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8801" y="4231184"/>
            <a:ext cx="2277055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100% DIGITAL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620000" y="0"/>
            <a:ext cx="4572000" cy="4800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848600" y="247650"/>
            <a:ext cx="2095500" cy="2095500"/>
          </a:xfrm>
          <a:prstGeom prst="ellipse">
            <a:avLst/>
          </a:prstGeom>
          <a:ln w="47625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15500" r="9500" t="0" b="0"/>
          <a:stretch/>
        </p:blipFill>
        <p:spPr>
          <a:xfrm>
            <a:off x="7848600" y="247650"/>
            <a:ext cx="2095500" cy="2095500"/>
          </a:xfrm>
          <a:prstGeom prst="ellipse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72650" y="1257300"/>
            <a:ext cx="1295400" cy="1295400"/>
          </a:xfrm>
          <a:prstGeom prst="ellipse">
            <a:avLst/>
          </a:prstGeom>
          <a:ln w="47625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15500" b="9500"/>
          <a:stretch/>
        </p:blipFill>
        <p:spPr>
          <a:xfrm>
            <a:off x="9772650" y="1257300"/>
            <a:ext cx="1295400" cy="1295400"/>
          </a:xfrm>
          <a:prstGeom prst="ellipse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115550" y="381000"/>
            <a:ext cx="86126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825" b="1" spc="149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</a:t>
            </a:r>
            <a:endParaRPr lang="en-US" sz="825" dirty="0"/>
          </a:p>
        </p:txBody>
      </p:sp>
      <p:sp>
        <p:nvSpPr>
          <p:cNvPr id="23" name="Text 16"/>
          <p:cNvSpPr/>
          <p:nvPr/>
        </p:nvSpPr>
        <p:spPr>
          <a:xfrm>
            <a:off x="10115550" y="566738"/>
            <a:ext cx="861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BARRA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0115550" y="871538"/>
            <a:ext cx="285750" cy="38100"/>
          </a:xfrm>
          <a:prstGeom prst="roundRect">
            <a:avLst>
              <a:gd name="adj" fmla="val 50000"/>
            </a:avLst>
          </a:prstGeom>
          <a:solidFill>
            <a:srgbClr val="FFCA00"/>
          </a:solidFill>
          <a:ln/>
        </p:spPr>
      </p:sp>
      <p:sp>
        <p:nvSpPr>
          <p:cNvPr id="25" name="Shape 18"/>
          <p:cNvSpPr/>
          <p:nvPr/>
        </p:nvSpPr>
        <p:spPr>
          <a:xfrm>
            <a:off x="9658350" y="2438400"/>
            <a:ext cx="2095500" cy="2095500"/>
          </a:xfrm>
          <a:prstGeom prst="ellipse">
            <a:avLst/>
          </a:prstGeom>
          <a:ln w="47625">
            <a:solidFill>
              <a:srgbClr val="FFFFF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13750" b="11250"/>
          <a:stretch/>
        </p:blipFill>
        <p:spPr>
          <a:xfrm>
            <a:off x="9658350" y="2438400"/>
            <a:ext cx="2095500" cy="2095500"/>
          </a:xfrm>
          <a:prstGeom prst="ellipse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477250" y="3143250"/>
            <a:ext cx="1295400" cy="1295400"/>
          </a:xfrm>
          <a:prstGeom prst="ellipse">
            <a:avLst/>
          </a:prstGeom>
          <a:ln w="47625">
            <a:solidFill>
              <a:srgbClr val="FFFFF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12500" b="12500"/>
          <a:stretch/>
        </p:blipFill>
        <p:spPr>
          <a:xfrm>
            <a:off x="8477250" y="3143250"/>
            <a:ext cx="1295400" cy="1295400"/>
          </a:xfrm>
          <a:prstGeom prst="ellipse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001000" y="2495550"/>
            <a:ext cx="100280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825" b="1" spc="149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</a:t>
            </a:r>
            <a:endParaRPr lang="en-US" sz="825" dirty="0"/>
          </a:p>
        </p:txBody>
      </p:sp>
      <p:sp>
        <p:nvSpPr>
          <p:cNvPr id="30" name="Text 21"/>
          <p:cNvSpPr/>
          <p:nvPr/>
        </p:nvSpPr>
        <p:spPr>
          <a:xfrm>
            <a:off x="8001000" y="2681288"/>
            <a:ext cx="10028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CENTRO</a:t>
            </a:r>
            <a:endParaRPr lang="en-US" sz="1800" dirty="0"/>
          </a:p>
        </p:txBody>
      </p:sp>
      <p:sp>
        <p:nvSpPr>
          <p:cNvPr id="31" name="Shape 22"/>
          <p:cNvSpPr/>
          <p:nvPr/>
        </p:nvSpPr>
        <p:spPr>
          <a:xfrm>
            <a:off x="8001000" y="2986088"/>
            <a:ext cx="285750" cy="38100"/>
          </a:xfrm>
          <a:prstGeom prst="roundRect">
            <a:avLst>
              <a:gd name="adj" fmla="val 50000"/>
            </a:avLst>
          </a:prstGeom>
          <a:solidFill>
            <a:srgbClr val="FFCA00"/>
          </a:solidFill>
          <a:ln/>
        </p:spPr>
      </p:sp>
      <p:sp>
        <p:nvSpPr>
          <p:cNvPr id="32" name="Shape 23"/>
          <p:cNvSpPr/>
          <p:nvPr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rgbClr val="FFCA00"/>
          </a:solidFill>
          <a:ln/>
        </p:spPr>
      </p:sp>
      <p:sp>
        <p:nvSpPr>
          <p:cNvPr id="33" name="Text 24"/>
          <p:cNvSpPr/>
          <p:nvPr/>
        </p:nvSpPr>
        <p:spPr>
          <a:xfrm>
            <a:off x="685800" y="5048250"/>
            <a:ext cx="28153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MISSÃO</a:t>
            </a:r>
            <a:endParaRPr lang="en-US" sz="1800" dirty="0"/>
          </a:p>
        </p:txBody>
      </p:sp>
      <p:sp>
        <p:nvSpPr>
          <p:cNvPr id="34" name="Text 25"/>
          <p:cNvSpPr/>
          <p:nvPr/>
        </p:nvSpPr>
        <p:spPr>
          <a:xfrm>
            <a:off x="685800" y="5372100"/>
            <a:ext cx="263617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38"/>
              </a:lnSpc>
              <a:buNone/>
            </a:pPr>
            <a:r>
              <a:rPr lang="en-US" sz="1088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Prover a implantação da Gestão de Saúde e Segurança do Trabalho como uma força estratégica, para melhor apoiar os negócios do cliente e para o setor.</a:t>
            </a:r>
            <a:endParaRPr lang="en-US" sz="1088" dirty="0"/>
          </a:p>
        </p:txBody>
      </p:sp>
      <p:sp>
        <p:nvSpPr>
          <p:cNvPr id="35" name="Text 26"/>
          <p:cNvSpPr/>
          <p:nvPr/>
        </p:nvSpPr>
        <p:spPr>
          <a:xfrm>
            <a:off x="3664297" y="5048250"/>
            <a:ext cx="28155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VISÃO</a:t>
            </a:r>
            <a:endParaRPr lang="en-US" sz="1800" dirty="0"/>
          </a:p>
        </p:txBody>
      </p:sp>
      <p:sp>
        <p:nvSpPr>
          <p:cNvPr id="36" name="Text 27"/>
          <p:cNvSpPr/>
          <p:nvPr/>
        </p:nvSpPr>
        <p:spPr>
          <a:xfrm>
            <a:off x="3664297" y="5372100"/>
            <a:ext cx="2636332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38"/>
              </a:lnSpc>
              <a:buNone/>
            </a:pPr>
            <a:r>
              <a:rPr lang="en-US" sz="1088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a melhor referência em gestão de saúde e segurança do trabalho do cliente e para o setor.</a:t>
            </a:r>
            <a:endParaRPr lang="en-US" sz="1088" dirty="0"/>
          </a:p>
        </p:txBody>
      </p:sp>
      <p:sp>
        <p:nvSpPr>
          <p:cNvPr id="37" name="Text 28"/>
          <p:cNvSpPr/>
          <p:nvPr/>
        </p:nvSpPr>
        <p:spPr>
          <a:xfrm>
            <a:off x="6642943" y="5048250"/>
            <a:ext cx="53495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VALORES</a:t>
            </a:r>
            <a:endParaRPr lang="en-US" sz="1800" dirty="0"/>
          </a:p>
        </p:txBody>
      </p:sp>
      <p:sp>
        <p:nvSpPr>
          <p:cNvPr id="38" name="Shape 29"/>
          <p:cNvSpPr/>
          <p:nvPr/>
        </p:nvSpPr>
        <p:spPr>
          <a:xfrm>
            <a:off x="6642943" y="5438775"/>
            <a:ext cx="24854" cy="66675"/>
          </a:xfrm>
          <a:prstGeom prst="roundRect">
            <a:avLst>
              <a:gd name="adj" fmla="val 50001"/>
            </a:avLst>
          </a:prstGeom>
          <a:solidFill>
            <a:srgbClr val="1D1D1B"/>
          </a:solidFill>
          <a:ln/>
        </p:spPr>
      </p:sp>
      <p:sp>
        <p:nvSpPr>
          <p:cNvPr id="39" name="Text 30"/>
          <p:cNvSpPr/>
          <p:nvPr/>
        </p:nvSpPr>
        <p:spPr>
          <a:xfrm>
            <a:off x="6753523" y="5372100"/>
            <a:ext cx="228287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b="1" dirty="0">
                <a:solidFill>
                  <a:srgbClr val="0E1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 transparência </a:t>
            </a:r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relacionamento com clientes, colaboradores, fornecedores e a sociedade.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188797" y="5438775"/>
            <a:ext cx="56852" cy="66675"/>
          </a:xfrm>
          <a:prstGeom prst="ellipse">
            <a:avLst/>
          </a:prstGeom>
          <a:solidFill>
            <a:srgbClr val="1D1D1B"/>
          </a:solidFill>
          <a:ln/>
        </p:spPr>
      </p:sp>
      <p:sp>
        <p:nvSpPr>
          <p:cNvPr id="41" name="Text 32"/>
          <p:cNvSpPr/>
          <p:nvPr/>
        </p:nvSpPr>
        <p:spPr>
          <a:xfrm>
            <a:off x="9331375" y="5372100"/>
            <a:ext cx="22510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b="1" dirty="0">
                <a:solidFill>
                  <a:srgbClr val="0E1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 contínuo </a:t>
            </a:r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qualidade.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642943" y="6288286"/>
            <a:ext cx="32593" cy="66675"/>
          </a:xfrm>
          <a:prstGeom prst="roundRect">
            <a:avLst>
              <a:gd name="adj" fmla="val 50001"/>
            </a:avLst>
          </a:prstGeom>
          <a:solidFill>
            <a:srgbClr val="1D1D1B"/>
          </a:solidFill>
          <a:ln/>
        </p:spPr>
      </p:sp>
      <p:sp>
        <p:nvSpPr>
          <p:cNvPr id="43" name="Text 34"/>
          <p:cNvSpPr/>
          <p:nvPr/>
        </p:nvSpPr>
        <p:spPr>
          <a:xfrm>
            <a:off x="6761262" y="6221611"/>
            <a:ext cx="2275136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b="1" dirty="0">
                <a:solidFill>
                  <a:srgbClr val="0E1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profissional </a:t>
            </a:r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e humana, permanente e multidisciplinar.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9188797" y="6288286"/>
            <a:ext cx="43755" cy="66675"/>
          </a:xfrm>
          <a:prstGeom prst="roundRect">
            <a:avLst>
              <a:gd name="adj" fmla="val 50001"/>
            </a:avLst>
          </a:prstGeom>
          <a:solidFill>
            <a:srgbClr val="1D1D1B"/>
          </a:solidFill>
          <a:ln/>
        </p:spPr>
      </p:sp>
      <p:sp>
        <p:nvSpPr>
          <p:cNvPr id="45" name="Text 36"/>
          <p:cNvSpPr/>
          <p:nvPr/>
        </p:nvSpPr>
        <p:spPr>
          <a:xfrm>
            <a:off x="9318278" y="6221611"/>
            <a:ext cx="2264122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b="1" dirty="0">
                <a:solidFill>
                  <a:srgbClr val="0E1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 </a:t>
            </a:r>
            <a:pPr algn="l" indent="0" marL="0">
              <a:lnSpc>
                <a:spcPct val="126875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buscar soluções criativas e tecnológicas.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19024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76" kern="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DIFERENCIAL ESTRATÉGICO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85800" y="1081088"/>
            <a:ext cx="11145012" cy="20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091"/>
              </a:lnSpc>
              <a:buNone/>
            </a:pPr>
            <a:r>
              <a:rPr lang="en-US" sz="8400" b="1" spc="-84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UMA ATUAÇÃO </a:t>
            </a:r>
            <a:pPr algn="l" indent="0" marL="0">
              <a:lnSpc>
                <a:spcPct val="69091"/>
              </a:lnSpc>
              <a:buNone/>
            </a:pPr>
            <a:r>
              <a:rPr lang="en-US" sz="8400" b="1" spc="-84" kern="0" dirty="0">
                <a:solidFill>
                  <a:srgbClr val="FFCA00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INTEGRADA.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85800" y="4457700"/>
            <a:ext cx="569376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corporativa, segurança do trabalho, higiene ocupacional, gestão estratégica, tecnologia da informação e pessoas trabalhando juntas, potencializando a curva de aprendizagem do seu negócio, com uma equipe multidisciplinar.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99523" y="5212259"/>
            <a:ext cx="57150" cy="959941"/>
          </a:xfrm>
          <a:prstGeom prst="rect">
            <a:avLst/>
          </a:prstGeom>
          <a:solidFill>
            <a:srgbClr val="FFCA00"/>
          </a:solidFill>
          <a:ln/>
        </p:spPr>
      </p:sp>
      <p:sp>
        <p:nvSpPr>
          <p:cNvPr id="6" name="Text 4"/>
          <p:cNvSpPr/>
          <p:nvPr/>
        </p:nvSpPr>
        <p:spPr>
          <a:xfrm>
            <a:off x="7128123" y="5212259"/>
            <a:ext cx="451627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um executivo de negócios que acompanha e gerencia todo esse projeto.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C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76250"/>
            <a:ext cx="5715000" cy="5905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2743200"/>
            <a:ext cx="190500" cy="190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925" y="2695575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35255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4325" y="17907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9450" y="3152775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9925" y="1876425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25" y="355282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1800" y="4181475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1650" y="367665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1704975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725" y="352425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0" y="4200525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6025" y="4124325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6900" y="15621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25225" y="234315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2125" y="4886325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25225" y="247650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8425" y="2066925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77600" y="2162175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24950" y="55245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19975" y="2571750"/>
            <a:ext cx="190500" cy="1905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48600" y="962025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86900" y="5191125"/>
            <a:ext cx="190500" cy="190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44075" y="4629150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29950" y="2867025"/>
            <a:ext cx="190500" cy="1905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15475" y="2771775"/>
            <a:ext cx="190500" cy="190500"/>
          </a:xfrm>
          <a:prstGeom prst="rect">
            <a:avLst/>
          </a:prstGeom>
        </p:spPr>
      </p:pic>
      <p:sp>
        <p:nvSpPr>
          <p:cNvPr id="29" name="Shape 0"/>
          <p:cNvSpPr/>
          <p:nvPr/>
        </p:nvSpPr>
        <p:spPr>
          <a:xfrm>
            <a:off x="9972675" y="4305300"/>
            <a:ext cx="647700" cy="647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1D1B"/>
            </a:solidFill>
            <a:prstDash val="solid"/>
          </a:ln>
        </p:spPr>
      </p:sp>
      <p:pic>
        <p:nvPicPr>
          <p:cNvPr id="30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10058400" y="4391025"/>
            <a:ext cx="476250" cy="476250"/>
          </a:xfrm>
          <a:prstGeom prst="rect">
            <a:avLst/>
          </a:prstGeom>
        </p:spPr>
      </p:pic>
      <p:sp>
        <p:nvSpPr>
          <p:cNvPr id="31" name="Text 1"/>
          <p:cNvSpPr/>
          <p:nvPr/>
        </p:nvSpPr>
        <p:spPr>
          <a:xfrm>
            <a:off x="10706100" y="4953000"/>
            <a:ext cx="1220837" cy="331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825" b="1" spc="132" kern="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PRÓPRIA BARRA · CENTRO</a:t>
            </a:r>
            <a:endParaRPr lang="en-US" sz="825" dirty="0"/>
          </a:p>
        </p:txBody>
      </p:sp>
      <p:sp>
        <p:nvSpPr>
          <p:cNvPr id="32" name="Text 2"/>
          <p:cNvSpPr/>
          <p:nvPr/>
        </p:nvSpPr>
        <p:spPr>
          <a:xfrm>
            <a:off x="685800" y="685800"/>
            <a:ext cx="5180076" cy="166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949"/>
              </a:lnSpc>
              <a:buNone/>
            </a:pPr>
            <a:r>
              <a:rPr lang="en-US" sz="4350" b="1" spc="-43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NOSSA FORÇA ESTÁ ONDE VOCÊ ESTIVER.</a:t>
            </a:r>
            <a:endParaRPr lang="en-US" sz="4350" dirty="0"/>
          </a:p>
        </p:txBody>
      </p:sp>
      <p:sp>
        <p:nvSpPr>
          <p:cNvPr id="33" name="Text 3"/>
          <p:cNvSpPr/>
          <p:nvPr/>
        </p:nvSpPr>
        <p:spPr>
          <a:xfrm>
            <a:off x="685800" y="2728764"/>
            <a:ext cx="5532120" cy="6895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65769"/>
              </a:lnSpc>
              <a:buNone/>
            </a:pPr>
            <a:r>
              <a:rPr lang="en-US" sz="5700" b="1" spc="-114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+550</a:t>
            </a:r>
            <a:pPr algn="l" indent="0" marL="0">
              <a:lnSpc>
                <a:spcPct val="65769"/>
              </a:lnSpc>
              <a:buNone/>
            </a:pPr>
            <a:r>
              <a:rPr lang="en-US" sz="2850" b="1" spc="-114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mil</a:t>
            </a:r>
            <a:endParaRPr lang="en-US" sz="5700" dirty="0"/>
          </a:p>
        </p:txBody>
      </p:sp>
      <p:sp>
        <p:nvSpPr>
          <p:cNvPr id="34" name="Text 4"/>
          <p:cNvSpPr/>
          <p:nvPr/>
        </p:nvSpPr>
        <p:spPr>
          <a:xfrm>
            <a:off x="685800" y="3475434"/>
            <a:ext cx="55321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vidas gerenciadas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685800" y="3983980"/>
            <a:ext cx="5532120" cy="6895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65769"/>
              </a:lnSpc>
              <a:buNone/>
            </a:pPr>
            <a:r>
              <a:rPr lang="en-US" sz="5700" b="1" spc="-114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+5</a:t>
            </a:r>
            <a:pPr algn="l" indent="0" marL="0">
              <a:lnSpc>
                <a:spcPct val="65769"/>
              </a:lnSpc>
              <a:buNone/>
            </a:pPr>
            <a:r>
              <a:rPr lang="en-US" sz="2850" b="1" spc="-114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mil</a:t>
            </a:r>
            <a:endParaRPr lang="en-US" sz="5700" dirty="0"/>
          </a:p>
        </p:txBody>
      </p:sp>
      <p:sp>
        <p:nvSpPr>
          <p:cNvPr id="36" name="Text 6"/>
          <p:cNvSpPr/>
          <p:nvPr/>
        </p:nvSpPr>
        <p:spPr>
          <a:xfrm>
            <a:off x="685800" y="4730651"/>
            <a:ext cx="55321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35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em todo o território nacional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19024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76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 · CLIENTES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85800" y="1004887"/>
            <a:ext cx="119024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39"/>
              </a:lnSpc>
              <a:buNone/>
            </a:pPr>
            <a:r>
              <a:rPr lang="en-US" sz="3900" b="1" spc="-39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O QUE NOSSOS CLIENTES FALAM SOBRE NÓS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85800" y="4710113"/>
            <a:ext cx="3632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6000" b="1" dirty="0">
                <a:solidFill>
                  <a:srgbClr val="FFCA00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“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85800" y="5262563"/>
            <a:ext cx="36320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[Depoimento a selecionar]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85800" y="5743575"/>
            <a:ext cx="36320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[Nome, cargo]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5972175"/>
            <a:ext cx="36320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44901" y="4710113"/>
            <a:ext cx="36322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6000" b="1" dirty="0">
                <a:solidFill>
                  <a:srgbClr val="FFCA00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44901" y="5262563"/>
            <a:ext cx="36322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[Depoimento a selecionar]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444901" y="5743575"/>
            <a:ext cx="36322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[Nome, cargo]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44901" y="5972175"/>
            <a:ext cx="36322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Hotelaria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04150" y="4710113"/>
            <a:ext cx="3632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6000" b="1" dirty="0">
                <a:solidFill>
                  <a:srgbClr val="FFCA00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“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04150" y="5262563"/>
            <a:ext cx="363209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[Depoimento a selecionar]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204150" y="5743575"/>
            <a:ext cx="36320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[Nome, cargo]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4150" y="5972175"/>
            <a:ext cx="36320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81000"/>
            <a:ext cx="6096000" cy="6096000"/>
          </a:xfrm>
          <a:prstGeom prst="ellipse">
            <a:avLst/>
          </a:prstGeom>
          <a:solidFill>
            <a:srgbClr val="FFCA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854250"/>
            <a:ext cx="6239637" cy="2315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37"/>
              </a:lnSpc>
              <a:buNone/>
            </a:pPr>
            <a:r>
              <a:rPr lang="en-US" sz="3450" b="1" spc="-34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COMO OS FUNCIONÁRIOS DOS NOSSOS CLIENTES AVALIAM O ATENDIMENTO NAS NOSSAS UNIDADES PRÓPRIAS?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685800" y="4360664"/>
            <a:ext cx="425587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 — índice de satisfação com o atendimento nas unidades próprias. Fonte: [link], período: [a confirmar], universo: [nº de respondentes].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6905625" y="2438400"/>
            <a:ext cx="48196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5854"/>
              </a:lnSpc>
              <a:buNone/>
            </a:pPr>
            <a:r>
              <a:rPr lang="en-US" sz="11250" b="1" spc="-225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99,4</a:t>
            </a:r>
            <a:pPr algn="ctr" indent="0" marL="0">
              <a:lnSpc>
                <a:spcPct val="65854"/>
              </a:lnSpc>
              <a:buNone/>
            </a:pPr>
            <a:r>
              <a:rPr lang="en-US" sz="5400" b="1" spc="-225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%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6905625" y="3876675"/>
            <a:ext cx="4819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satisfação com o atendimento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5625" y="4219575"/>
            <a:ext cx="48196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1250"/>
              </a:lnSpc>
              <a:buNone/>
            </a:pPr>
            <a:r>
              <a:rPr lang="en-US" sz="10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[percentual exato a confirmar]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C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095500"/>
            <a:ext cx="7239000" cy="7239000"/>
          </a:xfrm>
          <a:prstGeom prst="ellipse">
            <a:avLst/>
          </a:prstGeom>
          <a:ln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581894"/>
            <a:ext cx="57150" cy="346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81894"/>
            <a:ext cx="1167384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que já nos conhece um pouco mais, a pergunta que fica é: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85800" y="2214265"/>
            <a:ext cx="11145012" cy="3099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50"/>
              </a:lnSpc>
              <a:buNone/>
            </a:pPr>
            <a:r>
              <a:rPr lang="en-US" sz="6150" b="1" spc="-61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COMO ENTREGAMOS MAIS GESTÃO DE SAÚDE E SEGURANÇA DO TRABALHO PARA A </a:t>
            </a:r>
            <a:pPr algn="l" indent="0" marL="0">
              <a:lnSpc>
                <a:spcPct val="71750"/>
              </a:lnSpc>
              <a:buNone/>
            </a:pPr>
            <a:r>
              <a:rPr lang="en-US" sz="6150" b="1" spc="-61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SUA EMPRESA?</a:t>
            </a:r>
            <a:endParaRPr lang="en-US" sz="6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756573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76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ENTREGAMOS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85800" y="814388"/>
            <a:ext cx="756573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3000" b="1" spc="-30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SEIS FRENTES, UMA ATUAÇÃO ÚNICA.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0" y="1524000"/>
            <a:ext cx="4419600" cy="4419600"/>
          </a:xfrm>
          <a:prstGeom prst="ellipse">
            <a:avLst/>
          </a:prstGeom>
          <a:ln w="19050">
            <a:solidFill>
              <a:srgbClr val="EDEF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0625" y="2638425"/>
            <a:ext cx="2190750" cy="2190750"/>
          </a:xfrm>
          <a:prstGeom prst="ellipse">
            <a:avLst/>
          </a:prstGeom>
          <a:solidFill>
            <a:srgbClr val="FFCA00"/>
          </a:solidFill>
          <a:ln/>
        </p:spPr>
      </p:sp>
      <p:sp>
        <p:nvSpPr>
          <p:cNvPr id="6" name="Text 4"/>
          <p:cNvSpPr/>
          <p:nvPr/>
        </p:nvSpPr>
        <p:spPr>
          <a:xfrm>
            <a:off x="5240685" y="3373934"/>
            <a:ext cx="1710482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75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MAIS GESTÃO DE SST PARA A SUA EMPRESA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96100" y="151447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86575" y="154305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58100" y="1438275"/>
            <a:ext cx="3038475" cy="24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CAPACIDADE TÉCNICA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658100" y="1714946"/>
            <a:ext cx="284511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ideais, com profissionais capacitados e atualizados às legislações que norteiam o segmento.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342900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1475" y="34575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63000" y="3352800"/>
            <a:ext cx="3038475" cy="24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SEGURANÇA OPERACIONAL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8763000" y="3629471"/>
            <a:ext cx="284511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de excelência e procedimentos padronizados em todo o território nacional.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96100" y="534352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6575" y="53721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58100" y="5267325"/>
            <a:ext cx="3038475" cy="24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REDE AMPLA E INTEGRADA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7658100" y="5543996"/>
            <a:ext cx="284511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própria e credenciada conectada para atender onde a sua operação está.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534352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6775" y="537210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95425" y="5267325"/>
            <a:ext cx="3038475" cy="24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INOVAÇÃO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688783" y="5543996"/>
            <a:ext cx="284511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tecnológica e sistêmica, com leitura dos dados, em um contexto 100% digital.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81400" y="342900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1875" y="34575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3883" y="3352800"/>
            <a:ext cx="2845118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INTELIGÊNCIA COMPARTILHADA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3883" y="3839468"/>
            <a:ext cx="284511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metodologia que constrói conhecimento de forma colaborativa. Ninguém faz nada sozinho.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1447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C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6775" y="154305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5425" y="1438275"/>
            <a:ext cx="3038475" cy="24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8750"/>
              </a:lnSpc>
              <a:buNone/>
            </a:pPr>
            <a:r>
              <a:rPr lang="en-US" sz="1575" b="1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INVESTIMENTO MÚTUO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688783" y="1714946"/>
            <a:ext cx="284511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35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e a CRED MHS investem juntas — e todo o sistema cresce junto.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4565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76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VIU VALOR NA ENTREGA DA CRED MHS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85800" y="1004887"/>
            <a:ext cx="9791129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239"/>
              </a:lnSpc>
              <a:buNone/>
            </a:pPr>
            <a:r>
              <a:rPr lang="en-US" sz="3900" b="1" spc="-39" kern="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EMPRESAS QUE CAMINHAM COM A GENTE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20350" y="1500188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1D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8450" y="1528763"/>
            <a:ext cx="419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‹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010900" y="1500188"/>
            <a:ext cx="495300" cy="495300"/>
          </a:xfrm>
          <a:prstGeom prst="ellipse">
            <a:avLst/>
          </a:prstGeom>
          <a:solidFill>
            <a:srgbClr val="FFCA00"/>
          </a:solidFill>
          <a:ln w="19050">
            <a:solidFill>
              <a:srgbClr val="FFC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0" y="1528763"/>
            <a:ext cx="419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D1D1B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›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38885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1109365" y="2564606"/>
            <a:ext cx="1657796" cy="1066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57575" y="38885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4129832" y="2564606"/>
            <a:ext cx="1160413" cy="1066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29350" y="38885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48488" y="2564606"/>
            <a:ext cx="1066800" cy="1066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01125" y="38885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83018" y="2874466"/>
            <a:ext cx="1741289" cy="44693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5800" y="56411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" b="-4"/>
          <a:stretch/>
        </p:blipFill>
        <p:spPr>
          <a:xfrm>
            <a:off x="1067544" y="4367361"/>
            <a:ext cx="1741587" cy="966341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457575" y="56411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26260" y="4317206"/>
            <a:ext cx="1167705" cy="10668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29350" y="56411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" b="-3"/>
          <a:stretch/>
        </p:blipFill>
        <p:spPr>
          <a:xfrm>
            <a:off x="6680299" y="4317206"/>
            <a:ext cx="1603028" cy="10668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9001125" y="5641181"/>
            <a:ext cx="2505075" cy="19050"/>
          </a:xfrm>
          <a:prstGeom prst="rect">
            <a:avLst/>
          </a:prstGeom>
          <a:solidFill>
            <a:srgbClr val="EDEFF5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20263" y="4317206"/>
            <a:ext cx="1066800" cy="10668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246644" y="5972175"/>
            <a:ext cx="3357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C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095500"/>
            <a:ext cx="7239000" cy="7239000"/>
          </a:xfrm>
          <a:prstGeom prst="ellipse">
            <a:avLst/>
          </a:prstGeom>
          <a:ln w="1905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1665089" cy="495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124075"/>
            <a:ext cx="11145012" cy="1580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467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Sommet Rounded" pitchFamily="34" charset="0"/>
                <a:ea typeface="Sommet Rounded" pitchFamily="34" charset="-122"/>
                <a:cs typeface="Sommet Rounded" pitchFamily="34" charset="-120"/>
              </a:rPr>
              <a:t>VAMOS AGENDAR A NOSSA CONVERSA?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685800" y="3894832"/>
            <a:ext cx="61534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chame para iniciarmos esse projeto juntos.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4512469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76300" y="4452938"/>
            <a:ext cx="15451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Detalhar o escopo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2688134" y="4512469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878634" y="4452938"/>
            <a:ext cx="23702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Aprofundar na sua demanda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515570" y="4512469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706070" y="4452938"/>
            <a:ext cx="17558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o primeiro passo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85800" y="5791200"/>
            <a:ext cx="9219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b="1" spc="162" kern="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6038850"/>
            <a:ext cx="9219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1190" y="5791200"/>
            <a:ext cx="16891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b="1" spc="162" kern="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41190" y="6038850"/>
            <a:ext cx="16891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[(00) 00000-0000]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86399" y="5791200"/>
            <a:ext cx="25332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b="1" spc="162" kern="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86399" y="6038850"/>
            <a:ext cx="25332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[nome]@credmhs.com.br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2026-10-20T12:35:14Z</dcterms:created>
  <dcterms:modified xsi:type="dcterms:W3CDTF">2026-10-20T12:35:14Z</dcterms:modified>
</cp:coreProperties>
</file>